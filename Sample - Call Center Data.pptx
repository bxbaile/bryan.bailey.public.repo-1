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3557" autoAdjust="0"/>
  </p:normalViewPr>
  <p:slideViewPr>
    <p:cSldViewPr snapToGrid="0">
      <p:cViewPr varScale="1">
        <p:scale>
          <a:sx n="60" d="100"/>
          <a:sy n="60" d="100"/>
        </p:scale>
        <p:origin x="1112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AE61B-BFCF-4A8E-BCD4-325857233F22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760F3-CD50-487A-B192-0F1AEDBB6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4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760F3-CD50-487A-B192-0F1AEDBB6B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56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EEF73-3251-C1D1-B66B-E819B9FD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A2578-B814-54EE-5CF2-EE29D4476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6F82A-7610-2086-EFDD-26C63B872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CAAD4-D430-FD01-8FDA-656BFA8D2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760F3-CD50-487A-B192-0F1AEDBB6B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9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5E9E5-9752-1912-B7DA-B9993CBF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BCD73-5EEB-0117-FED0-40A302B47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2477F-A1DE-2065-C00D-A7470C810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0B7C9-28A2-9388-B47A-F4895D3AB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760F3-CD50-487A-B192-0F1AEDBB6B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18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650EF-A544-72EF-542B-09FC92C4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033A0-4D45-5A69-B2E5-6B0BE068C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01812-0056-A1BF-7E89-663AD56FC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84A2-A759-05FB-F5A7-500AE67B1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760F3-CD50-487A-B192-0F1AEDBB6B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96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E341B-BE3D-8007-076D-8BB47E78D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61443-ED3A-1780-BC12-EEC010EBE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97AD9-602A-6037-E878-CC0038004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B490-E7BF-4018-8BD5-7C69B8DA5D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90F6-D238-FDD6-81F4-F22BE8C26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3D889-F2C2-72AB-684F-47494CBA5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6F98-D301-4E9B-9195-79B0851C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8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3D06-10A5-AD34-2F12-D049FD9B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D7F79-FE93-5C33-9ED4-90750FD32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5D02F-3BF2-E221-0BE5-D6836B047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B490-E7BF-4018-8BD5-7C69B8DA5D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0DDFD-42BC-B3B7-B1B9-19F5B9D45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548C0-C558-426B-42E8-9F4DEF44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6F98-D301-4E9B-9195-79B0851C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1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22188-C50E-14EA-9E90-438EE98C7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9F877-F0A1-5F32-5A29-51C97FFFB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D7F3B-481C-E7B4-68A1-4C1F3EE5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B490-E7BF-4018-8BD5-7C69B8DA5D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850C-AD4E-EFA1-66EF-D5C1CCB3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BD134-EE13-823A-4CAE-832760C5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6F98-D301-4E9B-9195-79B0851C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4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7080-8341-A820-A6EE-8A6A1FE7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3C5A4-91B9-BBDF-F68B-D63E7BCE3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AFB6D-9C4D-25D6-5038-DE5DC592C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3E049-95F5-C08D-F825-158F5301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B490-E7BF-4018-8BD5-7C69B8DA5D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6A368-ED4B-B150-810B-E9993D76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95355-504F-00E9-9E30-961A9E24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6F98-D301-4E9B-9195-79B0851C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8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28F6-5555-A965-4B7D-0857E28F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1791F-2D87-18AA-05DF-6BAE521D4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6189E-A883-503E-8689-E64489452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99EB8B-438B-D879-E3D6-BB1EFAF42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A608B-DC58-D66F-A9CD-4BA710B64C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1758BA-AD26-A670-1FD3-3FBAEA7E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B490-E7BF-4018-8BD5-7C69B8DA5D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5F026-5AF7-9065-1356-C3F8032ED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EDB4D-5F4F-4086-B814-99666CB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6F98-D301-4E9B-9195-79B0851C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44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DAEB-DB8C-64C0-7F80-93ADECA6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5B8C00-3A1D-59FF-4720-DCF163CB7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B490-E7BF-4018-8BD5-7C69B8DA5D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A4DA3-6EBB-C214-8FC0-6C4376765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DD897-3C40-9126-3D38-4DA41324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6F98-D301-4E9B-9195-79B0851C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62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986D4-0F99-0F8F-65D7-BFB0928A8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B490-E7BF-4018-8BD5-7C69B8DA5D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6582F-C1B6-CACA-F9B6-CBF1674C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5D47E-7F0C-F13A-5F77-DA8117B1D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6F98-D301-4E9B-9195-79B0851C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21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892A4-7646-6480-BBEF-192228909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75136-A33A-96C5-9321-12A81362E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D320F-7E2D-F818-DCDE-5F27D079E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65E1C-E844-3A56-AEC3-0DF49EED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B490-E7BF-4018-8BD5-7C69B8DA5D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E9340-C1AD-1D41-6FAE-89E71324B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39942-9A4B-54BF-355E-BAEA9F05F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6F98-D301-4E9B-9195-79B0851C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1F37-017C-FCE6-1F58-44C770CE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3A1D5F-D79A-1C38-E330-742D237BCF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8D042-AE8F-74C5-7E7C-D9BE1BE06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F7577-B8F5-A89B-6260-D15B032A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B490-E7BF-4018-8BD5-7C69B8DA5D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BFF20-C27E-5FCF-9E13-48177526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F53CE-3C16-3191-5F0A-1E4C79D08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6F98-D301-4E9B-9195-79B0851C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9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8A57-9FF4-A92B-DA64-C37508B8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34E78-91AE-F772-75AE-FAB95BEE0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2B454-08A3-2643-B344-326B79AD8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B490-E7BF-4018-8BD5-7C69B8DA5D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D50B0-FBE4-AF42-06F5-21C49893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704F1-862E-AFBB-EEB8-CD6D4495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6F98-D301-4E9B-9195-79B0851C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8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B20DFD-D4C6-26BB-1196-CA798E84C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3032E-450B-9FE5-F8DF-DF3A15004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98899-C3F5-AF8E-AAC7-ED0C0FD7D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B490-E7BF-4018-8BD5-7C69B8DA5D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8C905-6C15-782D-DA8C-88E190B17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377C2-561D-5727-3CCE-FFF31B57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6F98-D301-4E9B-9195-79B0851C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34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69317-07D7-33F2-7C73-B50905B35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C8E47-7B93-9795-5F2B-F8BA0406D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6F36E-1F97-0EEF-A887-15878436E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9B490-E7BF-4018-8BD5-7C69B8DA5D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8AA17-5992-0911-D57C-65CFD1B7C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D2B60-4730-8759-A0A2-4EFA8E6DF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6F98-D301-4E9B-9195-79B0851C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5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4BC2DBCE-BD1E-E50F-9661-D170984EC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565" y="1222744"/>
            <a:ext cx="8226490" cy="54226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2A80AB-83B8-8455-03CA-09B92F859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591" y="48474"/>
            <a:ext cx="11908464" cy="759598"/>
          </a:xfrm>
        </p:spPr>
        <p:txBody>
          <a:bodyPr>
            <a:normAutofit fontScale="90000"/>
          </a:bodyPr>
          <a:lstStyle/>
          <a:p>
            <a:r>
              <a:rPr lang="en-US" dirty="0"/>
              <a:t>Call Volumes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B648F4-9D48-7C7D-3947-1E5CB228D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590" y="138220"/>
            <a:ext cx="3795823" cy="6432700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Incoming &amp; Answered volumes similar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2021 – 3.5k-6.5k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2022 – 3k-6.3k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2023 – 4.7k-11k</a:t>
            </a:r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Except 18k spike in Mar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2024 – 4.5k-8k</a:t>
            </a:r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Jun is just 4 days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Incoming &amp; Answered call growth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Strong growth in 2023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2024 Similar volumes to 2023 except 3 spikes in 2023 Mar, Apr &amp; May, and 2024 has lower abandoned calls % as well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Apr-16 to Apr-30:</a:t>
            </a:r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r>
              <a:rPr lang="en-US" sz="1200" dirty="0"/>
              <a:t>Largest spikes in calls </a:t>
            </a:r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r>
              <a:rPr lang="en-US" sz="1200" dirty="0"/>
              <a:t>Spike in Abandoned Calls will have a correlated negative impact on our customer satisfaction metrics</a:t>
            </a:r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r>
              <a:rPr lang="en-US" sz="1200" dirty="0"/>
              <a:t>Investigating for possible IVR malfunctions &amp; other potential drivers as well as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Abandon calls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2021 &amp; 2022 – 1% to 2.5% except Nov 2022 (6.3%)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2023 – 1% to 4% except for spikes in Mar &amp; Apr (about 7%)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2024 – 1%-1.2%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8FEB2A-0986-F5F7-DF90-B18FAAB8E399}"/>
              </a:ext>
            </a:extLst>
          </p:cNvPr>
          <p:cNvCxnSpPr>
            <a:cxnSpLocks/>
          </p:cNvCxnSpPr>
          <p:nvPr/>
        </p:nvCxnSpPr>
        <p:spPr>
          <a:xfrm>
            <a:off x="3296093" y="1637414"/>
            <a:ext cx="5826641" cy="1244012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D1149CD-9EFA-D382-8DB9-926CDC70920A}"/>
              </a:ext>
            </a:extLst>
          </p:cNvPr>
          <p:cNvSpPr/>
          <p:nvPr/>
        </p:nvSpPr>
        <p:spPr>
          <a:xfrm>
            <a:off x="9058935" y="2884618"/>
            <a:ext cx="478467" cy="23072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18928DF-04E7-253F-A2BA-C00A2C7FCA95}"/>
              </a:ext>
            </a:extLst>
          </p:cNvPr>
          <p:cNvSpPr/>
          <p:nvPr/>
        </p:nvSpPr>
        <p:spPr>
          <a:xfrm>
            <a:off x="11621382" y="3739470"/>
            <a:ext cx="382780" cy="20520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F61311C-1839-54C6-F79A-D9E385BD9EEC}"/>
              </a:ext>
            </a:extLst>
          </p:cNvPr>
          <p:cNvCxnSpPr>
            <a:cxnSpLocks/>
          </p:cNvCxnSpPr>
          <p:nvPr/>
        </p:nvCxnSpPr>
        <p:spPr>
          <a:xfrm>
            <a:off x="2806993" y="2137143"/>
            <a:ext cx="8814393" cy="1647511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571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1A296-66D0-D7E0-256E-FAEBF2D8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22AB-DEB5-FE2C-1AC7-2DDC9F321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591" y="48474"/>
            <a:ext cx="11908464" cy="759598"/>
          </a:xfrm>
        </p:spPr>
        <p:txBody>
          <a:bodyPr>
            <a:normAutofit fontScale="90000"/>
          </a:bodyPr>
          <a:lstStyle/>
          <a:p>
            <a:r>
              <a:rPr lang="en-US" dirty="0"/>
              <a:t>Call Vol - Apr Outlier removed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04621-3F71-2515-12F5-0BF0D1F75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476" y="1275908"/>
            <a:ext cx="3958859" cy="5199320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Incoming &amp; Answered calls 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600" dirty="0"/>
              <a:t>2024 trends are still up with sustained larger call volumes (up to 8k) &amp; with lower % of Abandoned Calls (below 1.5%)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600" dirty="0"/>
              <a:t>Seasonality impacts by month are minimal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600" dirty="0"/>
              <a:t>2024 trends are sustained larger call volumes are expected to drive sustained lager Sales volumes if sales per call rates stay consistent</a:t>
            </a:r>
            <a:br>
              <a:rPr lang="en-US" sz="1600" dirty="0"/>
            </a:br>
            <a:endParaRPr lang="en-US" sz="1600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Abandon calls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600" dirty="0"/>
              <a:t>Spike are still in Nov-2022 (6.3%) &amp; Mar-2023 (6.7%)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600" dirty="0"/>
              <a:t>Spike in Abandoned Calls in Nov-2022 &amp; Mar-2023 will be a leading indicator for their correlated negative impact on our customer satisfaction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70CC20-F6E6-3731-689C-ED4B34B1C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352" y="935666"/>
            <a:ext cx="7848704" cy="5677786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33F92C0-765C-95CB-E5AE-643A17BC8459}"/>
              </a:ext>
            </a:extLst>
          </p:cNvPr>
          <p:cNvSpPr/>
          <p:nvPr/>
        </p:nvSpPr>
        <p:spPr>
          <a:xfrm>
            <a:off x="10994061" y="4189227"/>
            <a:ext cx="244553" cy="6698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9D6A97-7A42-2B52-944C-DDC089AD9212}"/>
              </a:ext>
            </a:extLst>
          </p:cNvPr>
          <p:cNvCxnSpPr>
            <a:cxnSpLocks/>
          </p:cNvCxnSpPr>
          <p:nvPr/>
        </p:nvCxnSpPr>
        <p:spPr>
          <a:xfrm>
            <a:off x="3817088" y="2349795"/>
            <a:ext cx="7250468" cy="1839433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B13A0AD-6254-765F-9C57-D22518EE9E57}"/>
              </a:ext>
            </a:extLst>
          </p:cNvPr>
          <p:cNvSpPr/>
          <p:nvPr/>
        </p:nvSpPr>
        <p:spPr>
          <a:xfrm>
            <a:off x="9285764" y="3790509"/>
            <a:ext cx="244553" cy="5263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703D0A-E6E6-AEEC-F940-99EF97369ADD}"/>
              </a:ext>
            </a:extLst>
          </p:cNvPr>
          <p:cNvCxnSpPr>
            <a:cxnSpLocks/>
          </p:cNvCxnSpPr>
          <p:nvPr/>
        </p:nvCxnSpPr>
        <p:spPr>
          <a:xfrm flipV="1">
            <a:off x="3338623" y="3817086"/>
            <a:ext cx="5989673" cy="1015409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287C3E76-74F2-9D6C-5FE1-56A0CD74C682}"/>
              </a:ext>
            </a:extLst>
          </p:cNvPr>
          <p:cNvSpPr/>
          <p:nvPr/>
        </p:nvSpPr>
        <p:spPr>
          <a:xfrm>
            <a:off x="8534394" y="3827719"/>
            <a:ext cx="244553" cy="5263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676EA5E-F940-9E64-9227-D45314DB1E04}"/>
              </a:ext>
            </a:extLst>
          </p:cNvPr>
          <p:cNvCxnSpPr>
            <a:cxnSpLocks/>
          </p:cNvCxnSpPr>
          <p:nvPr/>
        </p:nvCxnSpPr>
        <p:spPr>
          <a:xfrm flipV="1">
            <a:off x="2371061" y="4308854"/>
            <a:ext cx="6220413" cy="830665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9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B8D6E-0CD8-3214-B66F-3FEE991D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2669DD7-C3B0-A5FE-8E5C-DD22EFB2B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506" y="776783"/>
            <a:ext cx="9144268" cy="5525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FEFDA8-A65A-B71E-6908-4449BC6B8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837"/>
            <a:ext cx="11908464" cy="759598"/>
          </a:xfrm>
        </p:spPr>
        <p:txBody>
          <a:bodyPr>
            <a:normAutofit fontScale="90000"/>
          </a:bodyPr>
          <a:lstStyle/>
          <a:p>
            <a:r>
              <a:rPr lang="en-US" dirty="0"/>
              <a:t>Answer Speed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DF5D-9FCD-891E-432A-A0756A955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25" y="727490"/>
            <a:ext cx="2912954" cy="5194845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Range of Answer Speed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2024 – 9-14 Seconds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2023 – 20-72 Seconds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2022 – 9-58 Seconds</a:t>
            </a:r>
          </a:p>
          <a:p>
            <a:pPr lvl="1" algn="l"/>
            <a:endParaRPr lang="en-US" sz="1400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Spikes in Avg Speeds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2024</a:t>
            </a:r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No Spikes </a:t>
            </a:r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9-14 Sec are all  excellent Speeds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Mar-2023 – 67 Sec Spike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Apr-2023 – 72 Sec Spike 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Nov-2022 – 58 Sec Spike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With Spikes removed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2024 – Low – Good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2023 – Too High – Even with Mar &amp; Apr removed 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2023 – Too High – Even with Nov removed</a:t>
            </a:r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endParaRPr lang="en-US" sz="14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FEF0F6A-8630-5137-686C-43BC7BFCAE02}"/>
              </a:ext>
            </a:extLst>
          </p:cNvPr>
          <p:cNvSpPr/>
          <p:nvPr/>
        </p:nvSpPr>
        <p:spPr>
          <a:xfrm>
            <a:off x="7107034" y="2809548"/>
            <a:ext cx="804532" cy="48984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C1C295-8633-1082-1EA8-69DDD00C00B0}"/>
              </a:ext>
            </a:extLst>
          </p:cNvPr>
          <p:cNvCxnSpPr>
            <a:cxnSpLocks/>
          </p:cNvCxnSpPr>
          <p:nvPr/>
        </p:nvCxnSpPr>
        <p:spPr>
          <a:xfrm flipV="1">
            <a:off x="2721935" y="3299389"/>
            <a:ext cx="4580115" cy="379476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CCF294E-B5C1-C2EA-3FA2-C7D9D3CB50B9}"/>
              </a:ext>
            </a:extLst>
          </p:cNvPr>
          <p:cNvSpPr/>
          <p:nvPr/>
        </p:nvSpPr>
        <p:spPr>
          <a:xfrm>
            <a:off x="6703295" y="5529679"/>
            <a:ext cx="582777" cy="29231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DE3D298-7365-8FFF-75BD-8E0483CA4120}"/>
              </a:ext>
            </a:extLst>
          </p:cNvPr>
          <p:cNvCxnSpPr>
            <a:cxnSpLocks/>
          </p:cNvCxnSpPr>
          <p:nvPr/>
        </p:nvCxnSpPr>
        <p:spPr>
          <a:xfrm>
            <a:off x="2898506" y="4029740"/>
            <a:ext cx="3868869" cy="1532115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38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893E7-6F25-E2BF-BB23-49798FF03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6D150D-1FF0-B045-52E5-9BBBEE182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801692"/>
            <a:ext cx="8514888" cy="5596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215675-E400-3E1E-4407-C9399FF4E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24" y="17837"/>
            <a:ext cx="11727340" cy="759598"/>
          </a:xfrm>
        </p:spPr>
        <p:txBody>
          <a:bodyPr>
            <a:normAutofit fontScale="90000"/>
          </a:bodyPr>
          <a:lstStyle/>
          <a:p>
            <a:r>
              <a:rPr lang="en-US" dirty="0"/>
              <a:t>Answer Rate % Groups – Q1 &amp; Q2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79D36-D55E-130C-B125-EADD105CA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104" y="837219"/>
            <a:ext cx="3346331" cy="5033230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2024 – Answer Rate %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Is very high/good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Above 80% for all  months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Above 90% for all  months except Jan &amp; Mar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Even Jan &amp; Mar are still all in the above 80% range with only a minimal amount in the lower 80%-89% range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2023 – Answer Rate %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Majority are still above 80% for all  months except Mar &amp; Apr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Bad Answer Rate % Group mix/distribution for Mar &amp; Apr directly attributed to the massive spike in calls creating a missive increase in answer speeds &amp; dropped calls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2022 – Answer Rate %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Much better than 2023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1400" dirty="0"/>
              <a:t>Not as good </a:t>
            </a:r>
            <a:r>
              <a:rPr lang="en-US" sz="1400"/>
              <a:t>as 2024 </a:t>
            </a:r>
            <a:endParaRPr lang="en-US" sz="1400" dirty="0"/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endParaRPr lang="en-US" sz="14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FF38727-83E4-E7DF-632F-B599708CAFA9}"/>
              </a:ext>
            </a:extLst>
          </p:cNvPr>
          <p:cNvSpPr/>
          <p:nvPr/>
        </p:nvSpPr>
        <p:spPr>
          <a:xfrm>
            <a:off x="6254496" y="3109929"/>
            <a:ext cx="2377440" cy="112374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0B801E-7244-F7F2-91CD-7859E5B6D789}"/>
              </a:ext>
            </a:extLst>
          </p:cNvPr>
          <p:cNvCxnSpPr>
            <a:cxnSpLocks/>
          </p:cNvCxnSpPr>
          <p:nvPr/>
        </p:nvCxnSpPr>
        <p:spPr>
          <a:xfrm flipV="1">
            <a:off x="3369564" y="3995928"/>
            <a:ext cx="3067812" cy="82296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812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442</Words>
  <Application>Microsoft Office PowerPoint</Application>
  <PresentationFormat>Widescreen</PresentationFormat>
  <Paragraphs>61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Call Volumes</vt:lpstr>
      <vt:lpstr>Call Vol - Apr Outlier removed</vt:lpstr>
      <vt:lpstr>Answer Speed</vt:lpstr>
      <vt:lpstr>Answer Rate % Groups – Q1 &amp; Q2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Bailey</dc:creator>
  <cp:lastModifiedBy>Bryan Bailey</cp:lastModifiedBy>
  <cp:revision>2</cp:revision>
  <dcterms:created xsi:type="dcterms:W3CDTF">2024-10-28T18:42:35Z</dcterms:created>
  <dcterms:modified xsi:type="dcterms:W3CDTF">2026-05-18T07:04:21Z</dcterms:modified>
</cp:coreProperties>
</file>